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640080" cy="73152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4688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IRIS AI Agent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8961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FC0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conversational assistant for bank card servicing — deterministic where it matters, conversational everywhere else.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C9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build  ·  .NET 9  ·  Ollama  ·  IRIS CMS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502920" cy="54864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14173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servicing in IRIS is a multi-screen, order-sensitive task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</a:t>
            </a:r>
            <a:pPr indent="0" marL="0">
              <a:buNone/>
            </a:pPr>
            <a:r>
              <a:rPr lang="en-US" sz="90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a customer, the right product, the right account, then composing a card request spans several screens and exact field formats.</a:t>
            </a:r>
            <a:endParaRPr lang="en-US" sz="16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mistakes — a wrong branch code, a display name where an id is expected — fail late, at submission.</a:t>
            </a:r>
            <a:endParaRPr lang="en-US" sz="16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want to ask for what they need, not navigate to 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502920" cy="54864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14173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chat box in front of IRIS CMS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</a:t>
            </a:r>
            <a:pPr indent="0" marL="0">
              <a:buNone/>
            </a:pPr>
            <a:r>
              <a:rPr lang="en-US" sz="90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332378" cy="3200400"/>
          </a:xfrm>
          <a:prstGeom prst="roundRect">
            <a:avLst>
              <a:gd name="adj" fmla="val 228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057400"/>
            <a:ext cx="28751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3272" y="237744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requests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3272" y="2971800"/>
            <a:ext cx="287517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“Find customer with CNIC…”, “create a debit card”, “list the customer cards”, “show card 634”.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29658" y="1828800"/>
            <a:ext cx="3332378" cy="3200400"/>
          </a:xfrm>
          <a:prstGeom prst="roundRect">
            <a:avLst>
              <a:gd name="adj" fmla="val 228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5690" y="2057400"/>
            <a:ext cx="28751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85690" y="237744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does the 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5690" y="2971800"/>
            <a:ext cx="287517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operations run as typed code with a single IRIS call — the language model is not in the path.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2077" y="1828800"/>
            <a:ext cx="3332378" cy="3200400"/>
          </a:xfrm>
          <a:prstGeom prst="roundRect">
            <a:avLst>
              <a:gd name="adj" fmla="val 228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8109" y="2057400"/>
            <a:ext cx="28751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MODEL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338109" y="237744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On-prem LLM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8109" y="2971800"/>
            <a:ext cx="287517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 runs the model locally. No customer data leaves the host for free-form conversation.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502920" cy="54864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14173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PRINCIPLE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never creates a card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</a:t>
            </a:r>
            <a:pPr indent="0" marL="0">
              <a:buNone/>
            </a:pPr>
            <a:r>
              <a:rPr lang="en-US" sz="90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create_card tool only STAGES a request. Creation happens in a separate, code-only path behind an explicit confirmation gate.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880360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88036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request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350215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F95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794760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79476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router  ·  captures product / account / name / branch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441655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F95"/>
                </a:solidFill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709160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70916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summary shown  ·  staff confirms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533095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F95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623560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E5EDFF"/>
          </a:solidFill>
          <a:ln w="12700">
            <a:solidFill>
              <a:srgbClr val="1657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62356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CreateConfirmedCardAsync  →  IRIS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502920" cy="54864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14173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 orchestration, typed integration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</a:t>
            </a:r>
            <a:pPr indent="0" marL="0">
              <a:buNone/>
            </a:pPr>
            <a:r>
              <a:rPr lang="en-US" sz="90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10637215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103171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UI · quick actions · diagnostics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724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 /api/agent/chat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10637215" cy="868680"/>
          </a:xfrm>
          <a:prstGeom prst="roundRect">
            <a:avLst>
              <a:gd name="adj" fmla="val 6316"/>
            </a:avLst>
          </a:prstGeom>
          <a:solidFill>
            <a:srgbClr val="E5EDFF"/>
          </a:solidFill>
          <a:ln w="12700">
            <a:solidFill>
              <a:srgbClr val="1657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063240"/>
            <a:ext cx="103171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C3B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AgentService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fast-path router · guided card flow · response sanitizer · model loop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F95"/>
                </a:solidFill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297680"/>
            <a:ext cx="3362858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297680"/>
            <a:ext cx="304281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OllamaClient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transport · warm-up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14418" y="4297680"/>
            <a:ext cx="3362858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7298" y="4297680"/>
            <a:ext cx="304281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IrisTools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tools · validation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51597" y="4297680"/>
            <a:ext cx="3362858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4477" y="4297680"/>
            <a:ext cx="304281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DiagnosticsLog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ring buffer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5212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F95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5532120"/>
            <a:ext cx="5181448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60120" y="5532120"/>
            <a:ext cx="486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model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3008" y="5532120"/>
            <a:ext cx="5181448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415888" y="5532120"/>
            <a:ext cx="486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IRIS CMS API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· Bearer + consumer id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502920" cy="54864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14173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staff can ask for today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</a:t>
            </a:r>
            <a:pPr indent="0" marL="0">
              <a:buNone/>
            </a:pPr>
            <a:r>
              <a:rPr lang="en-US" sz="90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2419274" cy="3200400"/>
          </a:xfrm>
          <a:prstGeom prst="roundRect">
            <a:avLst>
              <a:gd name="adj" fmla="val 3024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103120"/>
            <a:ext cx="19620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697480"/>
            <a:ext cx="196207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up by CNIC or by name; see the record and continue with the resolved id.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16554" y="1828800"/>
            <a:ext cx="2419274" cy="3200400"/>
          </a:xfrm>
          <a:prstGeom prst="roundRect">
            <a:avLst>
              <a:gd name="adj" fmla="val 3024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2586" y="2103120"/>
            <a:ext cx="19620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&amp; products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72586" y="2697480"/>
            <a:ext cx="196207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a customer’s accounts, browse card products, currencies, and branches.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5868" y="1828800"/>
            <a:ext cx="2419274" cy="3200400"/>
          </a:xfrm>
          <a:prstGeom prst="roundRect">
            <a:avLst>
              <a:gd name="adj" fmla="val 3024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1900" y="2103120"/>
            <a:ext cx="19620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1900" y="2697480"/>
            <a:ext cx="196207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every card issued to a customer; open one card by id for full detail.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95181" y="1828800"/>
            <a:ext cx="2419274" cy="3200400"/>
          </a:xfrm>
          <a:prstGeom prst="roundRect">
            <a:avLst>
              <a:gd name="adj" fmla="val 3024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51213" y="2103120"/>
            <a:ext cx="19620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Debit-card creation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51213" y="2697480"/>
            <a:ext cx="196207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guided request with review, confirm / cancel, field validation, and retry.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502920" cy="54864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14173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CARD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Guided, correctable, confirmed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</a:t>
            </a:r>
            <a:pPr indent="0" marL="0">
              <a:buNone/>
            </a:pPr>
            <a:r>
              <a:rPr lang="en-US" sz="90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10424160" cy="4297680"/>
          </a:xfrm>
          <a:prstGeom prst="roundRect">
            <a:avLst>
              <a:gd name="adj" fmla="val 1702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03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148840" y="210312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customer with CNIC 4220170172913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25968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48840" y="259689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5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found. Which card product?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30906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48840" y="30906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MasterCard  →  TEST USER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97280" y="35844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48840" y="358444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25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 request shown  —  Confirm / Cancel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7280" y="407822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148840" y="407822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 branch 123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" y="45720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48840" y="45720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3F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“123” is not a known branch — Saddarr (0047), MainBranch (007), TPS Branch (1234)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" y="506577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48840" y="506577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  →  yes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97280" y="55595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48840" y="555955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85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created  ·  id 643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502920" cy="54864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14173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reasoning never reaches the screen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</a:t>
            </a:r>
            <a:pPr indent="0" marL="0">
              <a:buNone/>
            </a:pPr>
            <a:r>
              <a:rPr lang="en-US" sz="90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local model tends to narrate its thinking. A multi-stage sanitizer removes reasoning, planning, tool-selection narration and any echo of the system prompt — and a final gate blocks the reply entirely if it still reads like deliberation.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38328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611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51560" y="393192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3F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“Okay, let's see. The user wants… I should call the tool…”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338328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611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46520" y="393192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485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“Customer found: USMAN BALOCH RIND.”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502920" cy="54864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14173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· SPEED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operations went from tens of seconds to about 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</a:t>
            </a:r>
            <a:pPr indent="0" marL="0">
              <a:buNone/>
            </a:pPr>
            <a:r>
              <a:rPr lang="en-US" sz="90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3301898" cy="2743200"/>
          </a:xfrm>
          <a:prstGeom prst="roundRect">
            <a:avLst>
              <a:gd name="adj" fmla="val 2667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77440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788920"/>
            <a:ext cx="27532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85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1.7 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51560" y="3703320"/>
            <a:ext cx="27532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lookup by CNIC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44898" y="2103120"/>
            <a:ext cx="3301898" cy="2743200"/>
          </a:xfrm>
          <a:prstGeom prst="roundRect">
            <a:avLst>
              <a:gd name="adj" fmla="val 2667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9218" y="2377440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19218" y="2788920"/>
            <a:ext cx="27532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85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19218" y="3703320"/>
            <a:ext cx="27532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“Create a debit card” intent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2557" y="2103120"/>
            <a:ext cx="3301898" cy="2743200"/>
          </a:xfrm>
          <a:prstGeom prst="roundRect">
            <a:avLst>
              <a:gd name="adj" fmla="val 2667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6877" y="2377440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60–90 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86877" y="2788920"/>
            <a:ext cx="27532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85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 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386877" y="3703320"/>
            <a:ext cx="27532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4-step card creation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F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Because those paths no longer call the model — they run as C# with one IRIS request.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502920" cy="54864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14173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· RELIABILITY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Failures are caught early or recovered cleanly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</a:t>
            </a:r>
            <a:pPr indent="0" marL="0">
              <a:buNone/>
            </a:pPr>
            <a:r>
              <a:rPr lang="en-US" sz="90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fixes: correct account-type id, composed account-number format, product-list pagination, longest-name product matching.</a:t>
            </a:r>
            <a:endParaRPr lang="en-US" sz="16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validation: the delivery branch is checked against the live branch list before the request is ever submitted.</a:t>
            </a:r>
            <a:endParaRPr lang="en-US" sz="16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failure: a rejected card stays pending — correct one field, confirm again.</a:t>
            </a:r>
            <a:endParaRPr lang="en-US" sz="16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Diagnostics: every IRIS / model / tool error is captured with full detail, viewable in-app.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502920" cy="54864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14173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to be run, not just demoed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</a:t>
            </a:r>
            <a:pPr indent="0" marL="0">
              <a:buNone/>
            </a:pPr>
            <a:r>
              <a:rPr lang="en-US" sz="90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332378" cy="3200400"/>
          </a:xfrm>
          <a:prstGeom prst="roundRect">
            <a:avLst>
              <a:gd name="adj" fmla="val 228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10312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Diagnostics panel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697480"/>
            <a:ext cx="287517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 shows captured errors — level, source, message, and the full IRIS response or stack trace.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29658" y="1828800"/>
            <a:ext cx="3332378" cy="3200400"/>
          </a:xfrm>
          <a:prstGeom prst="roundRect">
            <a:avLst>
              <a:gd name="adj" fmla="val 228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5690" y="210312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persistence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85690" y="2697480"/>
            <a:ext cx="287517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conversation survives a page refresh; “New session” starts clean.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2077" y="1828800"/>
            <a:ext cx="3332378" cy="3200400"/>
          </a:xfrm>
          <a:prstGeom prst="roundRect">
            <a:avLst>
              <a:gd name="adj" fmla="val 228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8109" y="210312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actions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38109" y="2697480"/>
            <a:ext cx="287517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persistent bar of common requests above the message box; inline Confirm / Cancel on the review card.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502920" cy="54864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14173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</a:t>
            </a:r>
            <a:pPr indent="0" marL="0">
              <a:buNone/>
            </a:pPr>
            <a:r>
              <a:rPr lang="en-US" sz="90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customer with CNIC 4220170172913  —  instant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MasterCard  →  TEST USER  —  review card appears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branch 123  —  rejected, valid branches listed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1234  —  corrected, review card re-shown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 —  card created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the customer cards  —  the new card is there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Diagnostics  —  show a captured error with detail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502920" cy="54864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1417320" y="384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moves before this is production-shaped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3B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</a:t>
            </a:r>
            <a:pPr indent="0" marL="0">
              <a:buNone/>
            </a:pPr>
            <a:r>
              <a:rPr lang="en-US" sz="900" spc="1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3332378" cy="3200400"/>
          </a:xfrm>
          <a:prstGeom prst="roundRect">
            <a:avLst>
              <a:gd name="adj" fmla="val 228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057400"/>
            <a:ext cx="28751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33272" y="237744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qwen2.5:3b-instruct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3272" y="2971800"/>
            <a:ext cx="287517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switched. A non-reasoning model removes the leakage risk at the source and roughly halves the latency of calls that still reach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29658" y="1828800"/>
            <a:ext cx="3332378" cy="3200400"/>
          </a:xfrm>
          <a:prstGeom prst="roundRect">
            <a:avLst>
              <a:gd name="adj" fmla="val 228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5690" y="2057400"/>
            <a:ext cx="28751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HARDENING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85690" y="237744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· durable sessions · secrets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5690" y="2971800"/>
            <a:ext cx="287517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API auth, move sessions off in-memory, and pull IRIS credentials out of config.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2077" y="1828800"/>
            <a:ext cx="3332378" cy="3200400"/>
          </a:xfrm>
          <a:prstGeom prst="roundRect">
            <a:avLst>
              <a:gd name="adj" fmla="val 2286"/>
            </a:avLst>
          </a:prstGeom>
          <a:solidFill>
            <a:srgbClr val="EEF3F9"/>
          </a:solidFill>
          <a:ln w="12700">
            <a:solidFill>
              <a:srgbClr val="D6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8109" y="2057400"/>
            <a:ext cx="28751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C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338109" y="2377440"/>
            <a:ext cx="2875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operations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8109" y="2971800"/>
            <a:ext cx="287517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6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/ replace / renew a card, create customer &amp; account — scoped; needs request-body examples from IRIS.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651760"/>
            <a:ext cx="640080" cy="73152"/>
          </a:xfrm>
          <a:prstGeom prst="rect">
            <a:avLst/>
          </a:prstGeom>
          <a:solidFill>
            <a:srgbClr val="1657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88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IRIS AI Agent — deterministic where it matters, conversational everywhere else.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Card Operations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IRIS AI Agent</dc:title>
  <dc:subject>PptxGenJS Presentation</dc:subject>
  <dc:creator>IRIS AI Agent</dc:creator>
  <cp:lastModifiedBy>IRIS AI Agent</cp:lastModifiedBy>
  <cp:revision>1</cp:revision>
  <dcterms:created xsi:type="dcterms:W3CDTF">2026-09-01T20:31:21Z</dcterms:created>
  <dcterms:modified xsi:type="dcterms:W3CDTF">2026-09-01T20:31:21Z</dcterms:modified>
</cp:coreProperties>
</file>